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74501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free trial on all plans · No credit card required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01168" y="1024128"/>
            <a:ext cx="2651760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E5"/>
            </a:solidFill>
            <a:prstDash val="solid"/>
          </a:ln>
          <a:effectLst>
            <a:outerShdw blurRad="203200" dist="50800" dir="8400000" algn="bl" rotWithShape="0">
              <a:srgbClr val="031635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01168" y="1024128"/>
            <a:ext cx="2651760" cy="54864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2336" y="1371600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02336" y="1627632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8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</a:t>
            </a:r>
            <a:r>
              <a:rPr lang="en-US" sz="14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02336" y="230428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$790 / yr · 2 months free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02336" y="2578608"/>
            <a:ext cx="2249424" cy="0"/>
          </a:xfrm>
          <a:prstGeom prst="line">
            <a:avLst/>
          </a:prstGeom>
          <a:noFill/>
          <a:ln w="9525">
            <a:solidFill>
              <a:srgbClr val="E0E3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02336" y="2825496"/>
            <a:ext cx="73152" cy="73152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30352" y="2761488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Staff Seats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02336" y="3067812"/>
            <a:ext cx="73152" cy="73152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0352" y="3003804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10 </a:t>
            </a:r>
            <a:r>
              <a:rPr lang="en-US" sz="9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02336" y="3310128"/>
            <a:ext cx="73152" cy="73152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30352" y="3246120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1.5M AI Tokens / mo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3552444"/>
            <a:ext cx="73152" cy="73152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30352" y="3488436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AI Counselor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02336" y="3794760"/>
            <a:ext cx="73152" cy="73152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30352" y="3730752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Templates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2336" y="4480560"/>
            <a:ext cx="2249424" cy="320040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02336" y="448056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Trial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1024128"/>
            <a:ext cx="2651760" cy="3913632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  <a:effectLst>
            <a:outerShdw blurRad="355600" dist="101600" dir="8400000" algn="bl" rotWithShape="0">
              <a:srgbClr val="03163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246120" y="1024128"/>
            <a:ext cx="2651760" cy="54864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721608" y="1225296"/>
            <a:ext cx="1700784" cy="246888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721608" y="1225296"/>
            <a:ext cx="1700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447288" y="157276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82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447288" y="1828800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$199</a:t>
            </a:r>
            <a:r>
              <a:rPr lang="en-US" sz="1400" dirty="0">
                <a:solidFill>
                  <a:srgbClr val="82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3447288" y="2505456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2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$1,990 / yr · 2 months free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447288" y="2779776"/>
            <a:ext cx="2249424" cy="0"/>
          </a:xfrm>
          <a:prstGeom prst="line">
            <a:avLst/>
          </a:prstGeom>
          <a:noFill/>
          <a:ln w="9525">
            <a:solidFill>
              <a:srgbClr val="1E2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447288" y="3026664"/>
            <a:ext cx="73152" cy="73152"/>
          </a:xfrm>
          <a:prstGeom prst="rect">
            <a:avLst/>
          </a:prstGeom>
          <a:solidFill>
            <a:srgbClr val="364768"/>
          </a:solidFill>
          <a:ln w="1270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575304" y="2962656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Staff Seats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447288" y="3268980"/>
            <a:ext cx="73152" cy="73152"/>
          </a:xfrm>
          <a:prstGeom prst="rect">
            <a:avLst/>
          </a:prstGeom>
          <a:solidFill>
            <a:srgbClr val="364768"/>
          </a:solidFill>
          <a:ln w="1270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575304" y="3204972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Students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447288" y="3511296"/>
            <a:ext cx="73152" cy="73152"/>
          </a:xfrm>
          <a:prstGeom prst="rect">
            <a:avLst/>
          </a:prstGeom>
          <a:solidFill>
            <a:srgbClr val="364768"/>
          </a:solidFill>
          <a:ln w="1270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575304" y="3447288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5M AI Tokens / mo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447288" y="3753612"/>
            <a:ext cx="73152" cy="73152"/>
          </a:xfrm>
          <a:prstGeom prst="rect">
            <a:avLst/>
          </a:prstGeom>
          <a:solidFill>
            <a:srgbClr val="364768"/>
          </a:solidFill>
          <a:ln w="1270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575304" y="3689604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AI Analysis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447288" y="3995928"/>
            <a:ext cx="73152" cy="73152"/>
          </a:xfrm>
          <a:prstGeom prst="rect">
            <a:avLst/>
          </a:prstGeom>
          <a:solidFill>
            <a:srgbClr val="364768"/>
          </a:solidFill>
          <a:ln w="1270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575304" y="3931920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Branded Portals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447288" y="4238244"/>
            <a:ext cx="73152" cy="73152"/>
          </a:xfrm>
          <a:prstGeom prst="rect">
            <a:avLst/>
          </a:prstGeom>
          <a:solidFill>
            <a:srgbClr val="364768"/>
          </a:solidFill>
          <a:ln w="1270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575304" y="4174236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8D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24/7 Support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447288" y="4480560"/>
            <a:ext cx="2249424" cy="320040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3447288" y="448056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91072" y="1024128"/>
            <a:ext cx="2651760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E5"/>
            </a:solidFill>
            <a:prstDash val="solid"/>
          </a:ln>
          <a:effectLst>
            <a:outerShdw blurRad="203200" dist="50800" dir="8400000" algn="bl" rotWithShape="0">
              <a:srgbClr val="031635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291072" y="1024128"/>
            <a:ext cx="2651760" cy="54864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492240" y="1371600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492240" y="1627632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8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$499</a:t>
            </a:r>
            <a:r>
              <a:rPr lang="en-US" sz="14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</a:t>
            </a:r>
            <a:endParaRPr lang="en-US" sz="3800" dirty="0"/>
          </a:p>
        </p:txBody>
      </p:sp>
      <p:sp>
        <p:nvSpPr>
          <p:cNvPr id="49" name="Text 47"/>
          <p:cNvSpPr/>
          <p:nvPr/>
        </p:nvSpPr>
        <p:spPr>
          <a:xfrm>
            <a:off x="6492240" y="230428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$4,990 / yr · 2 months free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492240" y="2578608"/>
            <a:ext cx="2249424" cy="0"/>
          </a:xfrm>
          <a:prstGeom prst="line">
            <a:avLst/>
          </a:prstGeom>
          <a:noFill/>
          <a:ln w="9525">
            <a:solidFill>
              <a:srgbClr val="E0E3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492240" y="2825496"/>
            <a:ext cx="73152" cy="73152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620256" y="2761488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 Staff Seats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492240" y="3067812"/>
            <a:ext cx="73152" cy="73152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620256" y="3003804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 Students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3310128"/>
            <a:ext cx="73152" cy="73152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6620256" y="3246120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 AI Tokens / mo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492240" y="3552444"/>
            <a:ext cx="73152" cy="73152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620256" y="3488436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Multi-team Access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492240" y="3794760"/>
            <a:ext cx="73152" cy="73152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6620256" y="3730752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 / SSO Integration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492240" y="4037076"/>
            <a:ext cx="73152" cy="73152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620256" y="3973068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Documentation Access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480560"/>
            <a:ext cx="2249424" cy="320040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6492240" y="448056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Sales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Add-ons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 onto any plan · Token ceiling stays at your current plan limit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01168" y="1024128"/>
            <a:ext cx="26517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E5"/>
            </a:solidFill>
            <a:prstDash val="solid"/>
          </a:ln>
          <a:effectLst>
            <a:outerShdw blurRad="203200" dist="50800" dir="8400000" algn="bl" rotWithShape="0">
              <a:srgbClr val="031635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01168" y="1024128"/>
            <a:ext cx="2651760" cy="54864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2336" y="1316736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PACK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02336" y="1591056"/>
            <a:ext cx="22494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</a:t>
            </a:r>
            <a:r>
              <a:rPr lang="en-US" sz="14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402336" y="2340864"/>
            <a:ext cx="2249424" cy="0"/>
          </a:xfrm>
          <a:prstGeom prst="line">
            <a:avLst/>
          </a:prstGeom>
          <a:noFill/>
          <a:ln w="9525">
            <a:solidFill>
              <a:srgbClr val="E0E3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02336" y="2542032"/>
            <a:ext cx="2249424" cy="365760"/>
          </a:xfrm>
          <a:prstGeom prst="rect">
            <a:avLst/>
          </a:prstGeom>
          <a:solidFill>
            <a:srgbClr val="EDF0F6"/>
          </a:solidFill>
          <a:ln w="635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02336" y="254203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+2  </a:t>
            </a:r>
            <a:r>
              <a:rPr lang="en-US" sz="10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Seats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2336" y="3017520"/>
            <a:ext cx="2249424" cy="365760"/>
          </a:xfrm>
          <a:prstGeom prst="rect">
            <a:avLst/>
          </a:prstGeom>
          <a:solidFill>
            <a:srgbClr val="EDF0F6"/>
          </a:solidFill>
          <a:ln w="635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02336" y="3017520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+10  </a:t>
            </a:r>
            <a:r>
              <a:rPr lang="en-US" sz="10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02336" y="3584448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extra counselor &amp; small class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02336" y="4224528"/>
            <a:ext cx="2249424" cy="301752"/>
          </a:xfrm>
          <a:prstGeom prst="rect">
            <a:avLst/>
          </a:prstGeom>
          <a:solidFill>
            <a:srgbClr val="EDF0F6"/>
          </a:solidFill>
          <a:ln w="635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02336" y="4224528"/>
            <a:ext cx="2249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647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stay at plan ceiling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46120" y="1024128"/>
            <a:ext cx="26517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E5"/>
            </a:solidFill>
            <a:prstDash val="solid"/>
          </a:ln>
          <a:effectLst>
            <a:outerShdw blurRad="203200" dist="50800" dir="8400000" algn="bl" rotWithShape="0">
              <a:srgbClr val="031635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46120" y="1024128"/>
            <a:ext cx="2651760" cy="54864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47288" y="1316736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PACK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447288" y="1591056"/>
            <a:ext cx="22494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$129</a:t>
            </a:r>
            <a:r>
              <a:rPr lang="en-US" sz="14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</a:t>
            </a:r>
            <a:endParaRPr lang="en-US" sz="4200" dirty="0"/>
          </a:p>
        </p:txBody>
      </p:sp>
      <p:sp>
        <p:nvSpPr>
          <p:cNvPr id="21" name="Shape 19"/>
          <p:cNvSpPr/>
          <p:nvPr/>
        </p:nvSpPr>
        <p:spPr>
          <a:xfrm>
            <a:off x="3447288" y="2340864"/>
            <a:ext cx="2249424" cy="0"/>
          </a:xfrm>
          <a:prstGeom prst="line">
            <a:avLst/>
          </a:prstGeom>
          <a:noFill/>
          <a:ln w="9525">
            <a:solidFill>
              <a:srgbClr val="E0E3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447288" y="2542032"/>
            <a:ext cx="2249424" cy="365760"/>
          </a:xfrm>
          <a:prstGeom prst="rect">
            <a:avLst/>
          </a:prstGeom>
          <a:solidFill>
            <a:srgbClr val="EDF0F6"/>
          </a:solidFill>
          <a:ln w="635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47288" y="254203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+4  </a:t>
            </a:r>
            <a:r>
              <a:rPr lang="en-US" sz="10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Seats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447288" y="3017520"/>
            <a:ext cx="2249424" cy="365760"/>
          </a:xfrm>
          <a:prstGeom prst="rect">
            <a:avLst/>
          </a:prstGeom>
          <a:solidFill>
            <a:srgbClr val="EDF0F6"/>
          </a:solidFill>
          <a:ln w="635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47288" y="3017520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+20  </a:t>
            </a:r>
            <a:r>
              <a:rPr lang="en-US" sz="10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447288" y="3584448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 team expansion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447288" y="4224528"/>
            <a:ext cx="2249424" cy="301752"/>
          </a:xfrm>
          <a:prstGeom prst="rect">
            <a:avLst/>
          </a:prstGeom>
          <a:solidFill>
            <a:srgbClr val="EDF0F6"/>
          </a:solidFill>
          <a:ln w="635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47288" y="4224528"/>
            <a:ext cx="2249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647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stay at plan ceiling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91072" y="1024128"/>
            <a:ext cx="26517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E5"/>
            </a:solidFill>
            <a:prstDash val="solid"/>
          </a:ln>
          <a:effectLst>
            <a:outerShdw blurRad="203200" dist="50800" dir="8400000" algn="bl" rotWithShape="0">
              <a:srgbClr val="031635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291072" y="1024128"/>
            <a:ext cx="2651760" cy="54864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92240" y="1316736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PACK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92240" y="1591056"/>
            <a:ext cx="22494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$179</a:t>
            </a:r>
            <a:r>
              <a:rPr lang="en-US" sz="14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</a:t>
            </a:r>
            <a:endParaRPr lang="en-US" sz="4200" dirty="0"/>
          </a:p>
        </p:txBody>
      </p:sp>
      <p:sp>
        <p:nvSpPr>
          <p:cNvPr id="33" name="Shape 31"/>
          <p:cNvSpPr/>
          <p:nvPr/>
        </p:nvSpPr>
        <p:spPr>
          <a:xfrm>
            <a:off x="6492240" y="2340864"/>
            <a:ext cx="2249424" cy="0"/>
          </a:xfrm>
          <a:prstGeom prst="line">
            <a:avLst/>
          </a:prstGeom>
          <a:noFill/>
          <a:ln w="9525">
            <a:solidFill>
              <a:srgbClr val="E0E3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92240" y="2542032"/>
            <a:ext cx="2249424" cy="365760"/>
          </a:xfrm>
          <a:prstGeom prst="rect">
            <a:avLst/>
          </a:prstGeom>
          <a:solidFill>
            <a:srgbClr val="EDF0F6"/>
          </a:solidFill>
          <a:ln w="635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492240" y="254203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+6  </a:t>
            </a:r>
            <a:r>
              <a:rPr lang="en-US" sz="10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Seats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492240" y="3017520"/>
            <a:ext cx="2249424" cy="365760"/>
          </a:xfrm>
          <a:prstGeom prst="rect">
            <a:avLst/>
          </a:prstGeom>
          <a:solidFill>
            <a:srgbClr val="EDF0F6"/>
          </a:solidFill>
          <a:ln w="635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492240" y="3017520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+35  </a:t>
            </a:r>
            <a:r>
              <a:rPr lang="en-US" sz="1050" dirty="0">
                <a:solidFill>
                  <a:srgbClr val="444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92240" y="3584448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seat headroom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4224528"/>
            <a:ext cx="2249424" cy="301752"/>
          </a:xfrm>
          <a:prstGeom prst="rect">
            <a:avLst/>
          </a:prstGeom>
          <a:solidFill>
            <a:srgbClr val="EDF0F6"/>
          </a:solidFill>
          <a:ln w="635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492240" y="4224528"/>
            <a:ext cx="2249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647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stay at plan ceiling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Add-ons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up your monthly token pool without switching plans.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56616" y="1005840"/>
            <a:ext cx="1901952" cy="3401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E5"/>
            </a:solidFill>
            <a:prstDash val="solid"/>
          </a:ln>
          <a:effectLst>
            <a:outerShdw blurRad="203200" dist="50800" dir="8400000" algn="bl" rotWithShape="0">
              <a:srgbClr val="031635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56616" y="1005840"/>
            <a:ext cx="1901952" cy="54864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" y="1280160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48056" y="155448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+500k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8056" y="2212848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/ mo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93776" y="2487168"/>
            <a:ext cx="1627632" cy="0"/>
          </a:xfrm>
          <a:prstGeom prst="line">
            <a:avLst/>
          </a:prstGeom>
          <a:noFill/>
          <a:ln w="9525">
            <a:solidFill>
              <a:srgbClr val="E0E3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056" y="267004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</a:t>
            </a:r>
            <a:r>
              <a:rPr lang="en-US" sz="11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/mo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48056" y="318211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usage spike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32888" y="1005840"/>
            <a:ext cx="1901952" cy="3401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E5"/>
            </a:solidFill>
            <a:prstDash val="solid"/>
          </a:ln>
          <a:effectLst>
            <a:outerShdw blurRad="203200" dist="50800" dir="8400000" algn="bl" rotWithShape="0">
              <a:srgbClr val="031635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532888" y="1005840"/>
            <a:ext cx="1901952" cy="54864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651760" y="1280160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624328" y="155448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+2M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624328" y="2212848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/ mo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670048" y="2487168"/>
            <a:ext cx="1627632" cy="0"/>
          </a:xfrm>
          <a:prstGeom prst="line">
            <a:avLst/>
          </a:prstGeom>
          <a:noFill/>
          <a:ln w="9525">
            <a:solidFill>
              <a:srgbClr val="E0E3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624328" y="267004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</a:t>
            </a:r>
            <a:r>
              <a:rPr lang="en-US" sz="11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/mo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2624328" y="318211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heavy student cycle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09160" y="1005840"/>
            <a:ext cx="1901952" cy="3401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E5"/>
            </a:solidFill>
            <a:prstDash val="solid"/>
          </a:ln>
          <a:effectLst>
            <a:outerShdw blurRad="203200" dist="50800" dir="8400000" algn="bl" rotWithShape="0">
              <a:srgbClr val="031635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709160" y="1005840"/>
            <a:ext cx="1901952" cy="54864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28032" y="1280160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00600" y="155448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+10M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4800600" y="2212848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/ mo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46320" y="2487168"/>
            <a:ext cx="1627632" cy="0"/>
          </a:xfrm>
          <a:prstGeom prst="line">
            <a:avLst/>
          </a:prstGeom>
          <a:noFill/>
          <a:ln w="9525">
            <a:solidFill>
              <a:srgbClr val="E0E3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00600" y="267004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3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</a:t>
            </a:r>
            <a:r>
              <a:rPr lang="en-US" sz="1100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/mo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4800600" y="318211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57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draft season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885432" y="1005840"/>
            <a:ext cx="1901952" cy="3401568"/>
          </a:xfrm>
          <a:prstGeom prst="rect">
            <a:avLst/>
          </a:prstGeom>
          <a:solidFill>
            <a:srgbClr val="031635"/>
          </a:solidFill>
          <a:ln w="12700">
            <a:solidFill>
              <a:srgbClr val="031635"/>
            </a:solidFill>
            <a:prstDash val="solid"/>
          </a:ln>
          <a:effectLst>
            <a:outerShdw blurRad="355600" dist="101600" dir="8400000" algn="bl" rotWithShape="0">
              <a:srgbClr val="031635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885432" y="1005840"/>
            <a:ext cx="1901952" cy="54864"/>
          </a:xfrm>
          <a:prstGeom prst="rect">
            <a:avLst/>
          </a:prstGeom>
          <a:solidFill>
            <a:srgbClr val="1A2B4B"/>
          </a:solidFill>
          <a:ln w="12700">
            <a:solidFill>
              <a:srgbClr val="1A2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004304" y="1280160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82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976872" y="155448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+30M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6976872" y="2212848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2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/ mo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022592" y="2487168"/>
            <a:ext cx="1627632" cy="0"/>
          </a:xfrm>
          <a:prstGeom prst="line">
            <a:avLst/>
          </a:prstGeom>
          <a:noFill/>
          <a:ln w="9525">
            <a:solidFill>
              <a:srgbClr val="1E2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976872" y="267004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$199</a:t>
            </a:r>
            <a:r>
              <a:rPr lang="en-US" sz="1100" dirty="0">
                <a:solidFill>
                  <a:srgbClr val="82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/mo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6976872" y="318211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2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feel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4572000"/>
            <a:ext cx="8229600" cy="347472"/>
          </a:xfrm>
          <a:prstGeom prst="rect">
            <a:avLst/>
          </a:prstGeom>
          <a:solidFill>
            <a:srgbClr val="EDF0F6"/>
          </a:solidFill>
          <a:ln w="6350">
            <a:solidFill>
              <a:srgbClr val="3647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57200" y="4572000"/>
            <a:ext cx="822960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647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add-ons are cheaper per token than upgrading plans — but a plan upgrade also unlocks higher seat limits and features.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282</Words>
  <Application>Microsoft Macintosh PowerPoint</Application>
  <PresentationFormat>On-screen Show (16:9)</PresentationFormat>
  <Paragraphs>78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ApplyPilot — Pricing</dc:title>
  <dc:subject>PptxGenJS Presentation</dc:subject>
  <dc:creator>PptxGenJS</dc:creator>
  <cp:lastModifiedBy>Xusan Ibragimov</cp:lastModifiedBy>
  <cp:revision>2</cp:revision>
  <dcterms:created xsi:type="dcterms:W3CDTF">2026-03-25T04:25:45Z</dcterms:created>
  <dcterms:modified xsi:type="dcterms:W3CDTF">2026-03-25T05:17:10Z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2026-03-25T04:48:23Z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05997c43-b3fc-4669-b224-4d728f68f70d</vt:lpwstr>
  </property>
  <property fmtid="{D5CDD505-2E9C-101B-9397-08002B2CF9AE}" pid="7" name="MSIP_Label_defa4170-0d19-0005-0004-bc88714345d2_ActionId">
    <vt:lpwstr>4c6facd8-ca69-40e3-a295-ad465567183d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50, 3, 0, 1</vt:lpwstr>
  </property>
</Properties>
</file>